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2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640080"/>
            <a:ext cx="1188720" cy="118872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98480" y="1371600"/>
            <a:ext cx="731520" cy="731520"/>
          </a:xfrm>
          <a:prstGeom prst="ellipse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35440" y="1828800"/>
            <a:ext cx="502920" cy="50292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80467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80DCDA"/>
                </a:solidFill>
                <a:latin typeface="Aptos"/>
              </a:defRPr>
            </a:pPr>
            <a:r>
              <a:t>BASIC OF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8686800" cy="12344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3400" b="1">
                <a:solidFill>
                  <a:srgbClr val="FFFFFF"/>
                </a:solidFill>
                <a:latin typeface="Aptos"/>
              </a:defRPr>
            </a:pPr>
            <a:r>
              <a:t>AI &amp; MACHINE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063240"/>
            <a:ext cx="8046720" cy="7772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200" b="0">
                <a:solidFill>
                  <a:srgbClr val="DBE7F5"/>
                </a:solidFill>
                <a:latin typeface="Aptos"/>
              </a:defRPr>
            </a:pPr>
            <a:r>
              <a:t>From the big picture to Classification vs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92040"/>
            <a:ext cx="8138160" cy="685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0">
                <a:solidFill>
                  <a:srgbClr val="FFFFFF"/>
                </a:solidFill>
                <a:latin typeface="Aptos"/>
              </a:defRPr>
            </a:pPr>
            <a:r>
              <a:t>Mirza Muhammad Jamal Nasir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89320"/>
            <a:ext cx="86868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200" b="0">
                <a:solidFill>
                  <a:srgbClr val="BFCDE0"/>
                </a:solidFill>
                <a:latin typeface="Aptos"/>
              </a:defRPr>
            </a:pPr>
            <a:r>
              <a:t>Learning goal: identify the difference between classification and regression.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73952"/>
            <a:ext cx="45720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BFCDE0"/>
                </a:solidFill>
                <a:latin typeface="Aptos"/>
              </a:defRPr>
            </a:pPr>
            <a: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2223E"/>
                </a:solidFill>
                <a:latin typeface="Aptos"/>
              </a:defRPr>
            </a:pPr>
            <a:r>
              <a:t>1. What is Artificial Intelligence?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5B6B80"/>
                </a:solidFill>
                <a:latin typeface="Aptos"/>
              </a:defRPr>
            </a:pPr>
            <a:r>
              <a:t>AI is the big picture: systems performing tasks that usually require human-like intelligence.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5B6B80"/>
                </a:solidFill>
                <a:latin typeface="Aptos"/>
              </a:defRPr>
            </a:pPr>
            <a:r>
              <a:t>2/7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5349240" cy="434340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91440" cy="434340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64792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23E"/>
                </a:solidFill>
                <a:latin typeface="Aptos"/>
              </a:defRPr>
            </a:pPr>
            <a:r>
              <a:t>AI in everyday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58568"/>
            <a:ext cx="4937759" cy="3593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Voice assistants </a:t>
            </a:r>
          </a:p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Maps </a:t>
            </a:r>
          </a:p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Recommended App's</a:t>
            </a:r>
          </a:p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Email services help detect spam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257800" cy="434340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91440" cy="4343400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764792"/>
            <a:ext cx="4846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23E"/>
                </a:solidFill>
                <a:latin typeface="Aptos"/>
              </a:defRPr>
            </a:pPr>
            <a:r>
              <a:t>Key idea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58568"/>
            <a:ext cx="4846320" cy="359359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AI is a broad field of computing</a:t>
            </a:r>
          </a:p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It includes different methods and technologies</a:t>
            </a:r>
          </a:p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Machine Learning is one important approach within AI</a:t>
            </a:r>
          </a:p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080760"/>
            <a:ext cx="1069848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009999"/>
                </a:solidFill>
                <a:latin typeface="Aptos"/>
              </a:defRPr>
            </a:pPr>
            <a:r>
              <a:t>Remember: AI is the wider field like Class Machine Learning is one part of it like sub Class.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2223E"/>
                </a:solidFill>
                <a:latin typeface="Aptos"/>
              </a:defRPr>
            </a:pPr>
            <a:r>
              <a:t>2. AI vs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5B6B80"/>
                </a:solidFill>
                <a:latin typeface="Aptos"/>
              </a:defRPr>
            </a:pPr>
            <a:r>
              <a:t>Think of AI as the wider goal, and ML as one way to achieve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5B6B80"/>
                </a:solidFill>
                <a:latin typeface="Aptos"/>
              </a:defRPr>
            </a:pPr>
            <a:r>
              <a:t>3/7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57800" cy="420624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91440" cy="420624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764792"/>
            <a:ext cx="4846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23E"/>
                </a:solidFill>
                <a:latin typeface="Aptos"/>
              </a:defRPr>
            </a:pPr>
            <a:r>
              <a:t>ARTIFICIAL INTELLIGENCE (AI)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58568"/>
            <a:ext cx="4846320" cy="3456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The broader field</a:t>
            </a:r>
          </a:p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Builds systems that perform intelligent tasks</a:t>
            </a:r>
          </a:p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May use rules, search, planning, or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57800" cy="420624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91440" cy="4206240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64792"/>
            <a:ext cx="4846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23E"/>
                </a:solidFill>
                <a:latin typeface="Aptos"/>
              </a:defRPr>
            </a:pPr>
            <a:r>
              <a:t>MACHINE LEARNING (ML)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258568"/>
            <a:ext cx="4846320" cy="345643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A subfield of AI</a:t>
            </a:r>
          </a:p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Learns patterns from examples and data</a:t>
            </a:r>
          </a:p>
          <a:p>
            <a:pPr>
              <a:spcAft>
                <a:spcPts val="800"/>
              </a:spcAft>
              <a:defRPr sz="1900">
                <a:solidFill>
                  <a:srgbClr val="263244"/>
                </a:solidFill>
                <a:latin typeface="Aptos"/>
              </a:defRPr>
            </a:pPr>
            <a:r>
              <a:t>•  Uses learned patterns to predict or make decisions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5989320"/>
            <a:ext cx="1014984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2223E"/>
                </a:solidFill>
                <a:latin typeface="Aptos"/>
              </a:defRPr>
            </a:pPr>
            <a:r>
              <a:t>Example: learn from labelled spam emails instead of writing a rule for every possible message.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2223E"/>
                </a:solidFill>
                <a:latin typeface="Aptos"/>
              </a:defRPr>
            </a:pPr>
            <a:r>
              <a:t>3. Four common Machine Learning approaches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5B6B80"/>
                </a:solidFill>
                <a:latin typeface="Aptos"/>
              </a:defRPr>
            </a:pPr>
            <a:r>
              <a:t>Different approaches depend on the feedback or labels available during learning.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5B6B80"/>
                </a:solidFill>
                <a:latin typeface="Aptos"/>
              </a:defRPr>
            </a:pPr>
            <a:r>
              <a:t>4/7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600200"/>
            <a:ext cx="5303520" cy="178308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95528" y="1828800"/>
            <a:ext cx="320040" cy="320040"/>
          </a:xfrm>
          <a:prstGeom prst="ellipse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52728" y="1764792"/>
            <a:ext cx="43891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2223E"/>
                </a:solidFill>
                <a:latin typeface="Aptos"/>
              </a:defRPr>
            </a:pPr>
            <a:r>
              <a:t>SUPERVISED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13432"/>
            <a:ext cx="48006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63244"/>
                </a:solidFill>
                <a:latin typeface="Aptos"/>
              </a:defRPr>
            </a:pPr>
            <a:r>
              <a:t>Learns from labelled examples.</a:t>
            </a:r>
            <a:br/>
            <a:r>
              <a:t>Example: spam / not spam.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0200"/>
            <a:ext cx="5303520" cy="178308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64807" y="1828800"/>
            <a:ext cx="320040" cy="320040"/>
          </a:xfrm>
          <a:prstGeom prst="ellipse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22007" y="1764792"/>
            <a:ext cx="43891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2223E"/>
                </a:solidFill>
                <a:latin typeface="Aptos"/>
              </a:defRPr>
            </a:pPr>
            <a:r>
              <a:t>UNSUPERVISED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313432"/>
            <a:ext cx="48006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63244"/>
                </a:solidFill>
                <a:latin typeface="Aptos"/>
              </a:defRPr>
            </a:pPr>
            <a:r>
              <a:t>Finds patterns in unlabelled data.</a:t>
            </a:r>
            <a:br/>
            <a:r>
              <a:t>Example: grouping customers.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749039"/>
            <a:ext cx="5303520" cy="178308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5528" y="3977639"/>
            <a:ext cx="320040" cy="320040"/>
          </a:xfrm>
          <a:prstGeom prst="ellipse">
            <a:avLst/>
          </a:prstGeom>
          <a:solidFill>
            <a:srgbClr val="F29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52728" y="3913631"/>
            <a:ext cx="43891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2223E"/>
                </a:solidFill>
                <a:latin typeface="Aptos"/>
              </a:defRPr>
            </a:pPr>
            <a:r>
              <a:t>SEMI-SUPERVISED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462272"/>
            <a:ext cx="48006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63244"/>
                </a:solidFill>
                <a:latin typeface="Aptos"/>
              </a:defRPr>
            </a:pPr>
            <a:r>
              <a:t>Uses a small labelled set plus more unlabelled data.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3749039"/>
            <a:ext cx="5303520" cy="178308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64807" y="3977639"/>
            <a:ext cx="320040" cy="320040"/>
          </a:xfrm>
          <a:prstGeom prst="ellipse">
            <a:avLst/>
          </a:prstGeom>
          <a:solidFill>
            <a:srgbClr val="31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22007" y="3913631"/>
            <a:ext cx="438912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700" b="1">
                <a:solidFill>
                  <a:srgbClr val="12223E"/>
                </a:solidFill>
                <a:latin typeface="Aptos"/>
              </a:defRPr>
            </a:pPr>
            <a:r>
              <a:t>REINFORCEMENT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62272"/>
            <a:ext cx="4800600" cy="8686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0">
                <a:solidFill>
                  <a:srgbClr val="263244"/>
                </a:solidFill>
                <a:latin typeface="Aptos"/>
              </a:defRPr>
            </a:pPr>
            <a:r>
              <a:t>Learns actions using rewards or penalties.</a:t>
            </a:r>
            <a:br/>
            <a:r>
              <a:t>Example: an agent learning a game.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897880"/>
            <a:ext cx="1088136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009999"/>
                </a:solidFill>
                <a:latin typeface="Aptos"/>
              </a:defRPr>
            </a:pPr>
            <a:r>
              <a:t>Today's focus: Supervised Learning → Classification and Regression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2223E"/>
                </a:solidFill>
                <a:latin typeface="Aptos"/>
              </a:defRPr>
            </a:pPr>
            <a:r>
              <a:t>4. Supervised Learning: two prediction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5B6B80"/>
                </a:solidFill>
                <a:latin typeface="Aptos"/>
              </a:defRPr>
            </a:pPr>
            <a:r>
              <a:t>Training examples include inputs and known target answers (labels).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5B6B80"/>
                </a:solidFill>
                <a:latin typeface="Aptos"/>
              </a:defRPr>
            </a:pPr>
            <a:r>
              <a:t>5/7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645920"/>
            <a:ext cx="5349240" cy="429768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645920"/>
            <a:ext cx="91440" cy="42976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10512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23E"/>
                </a:solidFill>
                <a:latin typeface="Aptos"/>
              </a:defRPr>
            </a:pPr>
            <a:r>
              <a:t>CLASSIFICATION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304288"/>
            <a:ext cx="4937759" cy="3547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244"/>
                </a:solidFill>
                <a:latin typeface="Aptos"/>
              </a:defRPr>
            </a:pPr>
            <a:r>
              <a:t>•  Predicts a category or class</a:t>
            </a:r>
          </a:p>
          <a:p>
            <a:pPr>
              <a:spcAft>
                <a:spcPts val="800"/>
              </a:spcAft>
              <a:defRPr sz="2000">
                <a:solidFill>
                  <a:srgbClr val="263244"/>
                </a:solidFill>
                <a:latin typeface="Aptos"/>
              </a:defRPr>
            </a:pPr>
            <a:r>
              <a:t>•  Spam or not spam</a:t>
            </a:r>
          </a:p>
          <a:p>
            <a:pPr>
              <a:spcAft>
                <a:spcPts val="800"/>
              </a:spcAft>
              <a:defRPr sz="2000">
                <a:solidFill>
                  <a:srgbClr val="263244"/>
                </a:solidFill>
                <a:latin typeface="Aptos"/>
              </a:defRPr>
            </a:pPr>
            <a:r>
              <a:t>•  Cat or dog</a:t>
            </a:r>
          </a:p>
          <a:p>
            <a:pPr>
              <a:spcAft>
                <a:spcPts val="800"/>
              </a:spcAft>
              <a:defRPr sz="2000">
                <a:solidFill>
                  <a:srgbClr val="263244"/>
                </a:solidFill>
                <a:latin typeface="Aptos"/>
              </a:defRPr>
            </a:pPr>
            <a:r>
              <a:t>•  Pass or fail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49240" cy="429768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91440" cy="4297680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10512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23E"/>
                </a:solidFill>
                <a:latin typeface="Aptos"/>
              </a:defRPr>
            </a:pPr>
            <a:r>
              <a:t>REGRESSION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4937759" cy="35478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63244"/>
                </a:solidFill>
                <a:latin typeface="Aptos"/>
              </a:defRPr>
            </a:pPr>
            <a:r>
              <a:t>•  Predicts a numerical value</a:t>
            </a:r>
          </a:p>
          <a:p>
            <a:pPr>
              <a:spcAft>
                <a:spcPts val="800"/>
              </a:spcAft>
              <a:defRPr sz="2000">
                <a:solidFill>
                  <a:srgbClr val="263244"/>
                </a:solidFill>
                <a:latin typeface="Aptos"/>
              </a:defRPr>
            </a:pPr>
            <a:r>
              <a:t>•  House price: £250,000</a:t>
            </a:r>
          </a:p>
          <a:p>
            <a:pPr>
              <a:spcAft>
                <a:spcPts val="800"/>
              </a:spcAft>
              <a:defRPr sz="2000">
                <a:solidFill>
                  <a:srgbClr val="263244"/>
                </a:solidFill>
                <a:latin typeface="Aptos"/>
              </a:defRPr>
            </a:pPr>
            <a:r>
              <a:t>•  Temperature: 21.5°C</a:t>
            </a:r>
          </a:p>
          <a:p>
            <a:pPr>
              <a:spcAft>
                <a:spcPts val="800"/>
              </a:spcAft>
              <a:defRPr sz="2000">
                <a:solidFill>
                  <a:srgbClr val="263244"/>
                </a:solidFill>
                <a:latin typeface="Aptos"/>
              </a:defRPr>
            </a:pPr>
            <a:r>
              <a:t>•  Monthly sales: £15,000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6080760"/>
            <a:ext cx="1033272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600" b="1">
                <a:solidFill>
                  <a:srgbClr val="12223E"/>
                </a:solidFill>
                <a:latin typeface="Aptos"/>
              </a:defRPr>
            </a:pPr>
            <a:r>
              <a:t>Quick rule: category → classification | numerical amount → regression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2223E"/>
                </a:solidFill>
                <a:latin typeface="Aptos"/>
              </a:defRPr>
            </a:pPr>
            <a:r>
              <a:t>5. How to identify the right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5B6B80"/>
                </a:solidFill>
                <a:latin typeface="Aptos"/>
              </a:defRPr>
            </a:pPr>
            <a:r>
              <a:t>Ask: what kind of answer are we trying to predict?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5B6B80"/>
                </a:solidFill>
                <a:latin typeface="Aptos"/>
              </a:defRPr>
            </a:pPr>
            <a:r>
              <a:t>6/7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5257800" cy="361188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91440" cy="3611880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10512"/>
            <a:ext cx="4846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23E"/>
                </a:solidFill>
                <a:latin typeface="Aptos"/>
              </a:defRPr>
            </a:pPr>
            <a:r>
              <a:t>Ask: “Which category?”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04288"/>
            <a:ext cx="4846320" cy="28620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44"/>
                </a:solidFill>
                <a:latin typeface="Aptos"/>
              </a:defRPr>
            </a:pPr>
            <a:r>
              <a:t>•  Spam or not spam?</a:t>
            </a:r>
          </a:p>
          <a:p>
            <a:pPr>
              <a:spcAft>
                <a:spcPts val="800"/>
              </a:spcAft>
              <a:defRPr sz="1800">
                <a:solidFill>
                  <a:srgbClr val="263244"/>
                </a:solidFill>
                <a:latin typeface="Aptos"/>
              </a:defRPr>
            </a:pPr>
            <a:r>
              <a:t>•  Fraud or legitimate?</a:t>
            </a:r>
          </a:p>
          <a:p>
            <a:pPr>
              <a:spcAft>
                <a:spcPts val="800"/>
              </a:spcAft>
              <a:defRPr sz="1800">
                <a:solidFill>
                  <a:srgbClr val="263244"/>
                </a:solidFill>
                <a:latin typeface="Aptos"/>
              </a:defRPr>
            </a:pPr>
            <a:r>
              <a:t>•  Customer will leave or stay?</a:t>
            </a:r>
          </a:p>
          <a:p>
            <a:pPr>
              <a:spcAft>
                <a:spcPts val="800"/>
              </a:spcAft>
              <a:defRPr sz="1800">
                <a:solidFill>
                  <a:srgbClr val="263244"/>
                </a:solidFill>
                <a:latin typeface="Aptos"/>
              </a:defRPr>
            </a:pPr>
            <a:r>
              <a:t>•  These are classification examples.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257800" cy="361188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45920"/>
            <a:ext cx="91440" cy="3611880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810512"/>
            <a:ext cx="4846320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23E"/>
                </a:solidFill>
                <a:latin typeface="Aptos"/>
              </a:defRPr>
            </a:pPr>
            <a:r>
              <a:t>Ask: “How much / how many?”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04288"/>
            <a:ext cx="4846320" cy="286207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44"/>
                </a:solidFill>
                <a:latin typeface="Aptos"/>
              </a:defRPr>
            </a:pPr>
            <a:r>
              <a:t>•  What will the house cost?</a:t>
            </a:r>
          </a:p>
          <a:p>
            <a:pPr>
              <a:spcAft>
                <a:spcPts val="800"/>
              </a:spcAft>
              <a:defRPr sz="1800">
                <a:solidFill>
                  <a:srgbClr val="263244"/>
                </a:solidFill>
                <a:latin typeface="Aptos"/>
              </a:defRPr>
            </a:pPr>
            <a:r>
              <a:t>•  What will tomorrow's temperature be?</a:t>
            </a:r>
          </a:p>
          <a:p>
            <a:pPr>
              <a:spcAft>
                <a:spcPts val="800"/>
              </a:spcAft>
              <a:defRPr sz="1800">
                <a:solidFill>
                  <a:srgbClr val="263244"/>
                </a:solidFill>
                <a:latin typeface="Aptos"/>
              </a:defRPr>
            </a:pPr>
            <a:r>
              <a:t>•  How much sales revenue is expected?</a:t>
            </a:r>
          </a:p>
          <a:p>
            <a:pPr>
              <a:spcAft>
                <a:spcPts val="800"/>
              </a:spcAft>
              <a:defRPr sz="1800">
                <a:solidFill>
                  <a:srgbClr val="263244"/>
                </a:solidFill>
                <a:latin typeface="Aptos"/>
              </a:defRPr>
            </a:pPr>
            <a:r>
              <a:t>•  These are regression examples.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23560"/>
            <a:ext cx="10424160" cy="5943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400" b="0">
                <a:solidFill>
                  <a:srgbClr val="5B6B80"/>
                </a:solidFill>
                <a:latin typeface="Aptos"/>
              </a:defRPr>
            </a:pPr>
            <a:r>
              <a:t>Note: Classification models may output probabilities, but the target is a class. Regression predicts a numerical quantity.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800" b="1">
                <a:solidFill>
                  <a:srgbClr val="12223E"/>
                </a:solidFill>
                <a:latin typeface="Aptos"/>
              </a:defRPr>
            </a:pPr>
            <a:r>
              <a:t>6. Quick check &amp;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300" b="0">
                <a:solidFill>
                  <a:srgbClr val="5B6B80"/>
                </a:solidFill>
                <a:latin typeface="Aptos"/>
              </a:defRPr>
            </a:pPr>
            <a:r>
              <a:t>Pause for a moment and choose your answer before checking.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73952"/>
            <a:ext cx="411480" cy="20116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defRPr sz="1000" b="0">
                <a:solidFill>
                  <a:srgbClr val="5B6B80"/>
                </a:solidFill>
                <a:latin typeface="Aptos"/>
              </a:defRPr>
            </a:pPr>
            <a:r>
              <a:t>7/7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508760"/>
            <a:ext cx="5349240" cy="1874519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91440" cy="1874519"/>
          </a:xfrm>
          <a:prstGeom prst="rect">
            <a:avLst/>
          </a:prstGeom>
          <a:solidFill>
            <a:srgbClr val="00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73351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23E"/>
                </a:solidFill>
                <a:latin typeface="Aptos"/>
              </a:defRPr>
            </a:pPr>
            <a:r>
              <a:t>Question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67128"/>
            <a:ext cx="4937759" cy="11247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44"/>
                </a:solidFill>
                <a:latin typeface="Aptos"/>
              </a:defRPr>
            </a:pPr>
            <a:r>
              <a:t>•  Predict whether an email is spam.</a:t>
            </a:r>
          </a:p>
          <a:p>
            <a:pPr>
              <a:spcAft>
                <a:spcPts val="800"/>
              </a:spcAft>
              <a:defRPr sz="1800">
                <a:solidFill>
                  <a:srgbClr val="263244"/>
                </a:solidFill>
                <a:latin typeface="Aptos"/>
              </a:defRPr>
            </a:pPr>
            <a:r>
              <a:t>•  Classification or Regression?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349240" cy="1874519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91440" cy="1874519"/>
          </a:xfrm>
          <a:prstGeom prst="rect">
            <a:avLst/>
          </a:prstGeom>
          <a:solidFill>
            <a:srgbClr val="2B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73351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23E"/>
                </a:solidFill>
                <a:latin typeface="Aptos"/>
              </a:defRPr>
            </a:pPr>
            <a:r>
              <a:t>Question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167128"/>
            <a:ext cx="4937759" cy="112471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63244"/>
                </a:solidFill>
                <a:latin typeface="Aptos"/>
              </a:defRPr>
            </a:pPr>
            <a:r>
              <a:t>•  Predict the selling price of a house.</a:t>
            </a:r>
          </a:p>
          <a:p>
            <a:pPr>
              <a:spcAft>
                <a:spcPts val="800"/>
              </a:spcAft>
              <a:defRPr sz="1800">
                <a:solidFill>
                  <a:srgbClr val="263244"/>
                </a:solidFill>
                <a:latin typeface="Aptos"/>
              </a:defRPr>
            </a:pPr>
            <a:r>
              <a:t>•  Classification or Regression?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657600"/>
            <a:ext cx="53492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657600"/>
            <a:ext cx="91440" cy="1508760"/>
          </a:xfrm>
          <a:prstGeom prst="rect">
            <a:avLst/>
          </a:prstGeom>
          <a:solidFill>
            <a:srgbClr val="31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822191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23E"/>
                </a:solidFill>
                <a:latin typeface="Aptos"/>
              </a:defRPr>
            </a:pPr>
            <a:r>
              <a:t>Answer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315968"/>
            <a:ext cx="4937759" cy="7589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44"/>
                </a:solidFill>
                <a:latin typeface="Aptos"/>
              </a:defRPr>
            </a:pPr>
            <a:r>
              <a:t>•  Classification — the output is a category.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34924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657600"/>
            <a:ext cx="91440" cy="1508760"/>
          </a:xfrm>
          <a:prstGeom prst="rect">
            <a:avLst/>
          </a:prstGeom>
          <a:solidFill>
            <a:srgbClr val="3191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822191"/>
            <a:ext cx="4937759" cy="4114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2000" b="1">
                <a:solidFill>
                  <a:srgbClr val="12223E"/>
                </a:solidFill>
                <a:latin typeface="Aptos"/>
              </a:defRPr>
            </a:pPr>
            <a:r>
              <a:t>Answer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4315968"/>
            <a:ext cx="4937759" cy="758952"/>
          </a:xfrm>
          <a:prstGeom prst="rect">
            <a:avLst/>
          </a:prstGeom>
          <a:noFill/>
        </p:spPr>
        <p:txBody>
          <a:bodyPr wrap="square" lIns="73152" rIns="73152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63244"/>
                </a:solidFill>
                <a:latin typeface="Aptos"/>
              </a:defRPr>
            </a:pPr>
            <a:r>
              <a:t>•  Regression — the output is a number.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623560"/>
            <a:ext cx="10698480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>
              <a:defRPr sz="1500" b="1">
                <a:solidFill>
                  <a:srgbClr val="12223E"/>
                </a:solidFill>
                <a:latin typeface="Aptos"/>
              </a:defRPr>
            </a:pPr>
            <a:r>
              <a:t>Takeaway: AI is the broad field • ML learns from data • Supervised Learning includes classification and regression tasks.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and Machine Learning: Classification vs Regression</dc:title>
  <dc:subject>Five-minute lecturer micro-teach for Computing</dc:subject>
  <dc:creator>OpenAI</dc:creator>
  <cp:keywords>Artificial Intelligence, Machine Learning, Supervised Learning, Classification, Regression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